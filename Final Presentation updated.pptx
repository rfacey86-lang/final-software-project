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79"/>
  </p:normalViewPr>
  <p:slideViewPr>
    <p:cSldViewPr snapToGrid="0">
      <p:cViewPr varScale="1">
        <p:scale>
          <a:sx n="88" d="100"/>
          <a:sy n="88" d="100"/>
        </p:scale>
        <p:origin x="1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2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0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84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4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00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373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66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57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278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371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95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57188-F8EA-8E4E-9E69-1D4FCB7186DE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C9760E5-347C-CA44-8AEB-9001A52F475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1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agc.instructure.com/courses/159875/modules/items/8167179" TargetMode="External"/><Relationship Id="rId2" Type="http://schemas.openxmlformats.org/officeDocument/2006/relationships/hyperlink" Target="https://uagc.instructure.com/courses/159875/modules/items/816715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149B-B38B-E6B0-5079-C89EA89E77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 Two: Final Project Presentation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E8D34-FEC6-004A-5C45-612C813B9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Student’s name: Rayon Facey</a:t>
            </a:r>
          </a:p>
          <a:p>
            <a:pPr algn="l"/>
            <a:r>
              <a:rPr lang="en-US" b="0" i="0" dirty="0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 name and number: CST499: Capstone for Computer Software Technology</a:t>
            </a:r>
          </a:p>
          <a:p>
            <a:pPr algn="l"/>
            <a:r>
              <a:rPr lang="en-US" b="0" i="0" dirty="0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Instructor’s name: </a:t>
            </a:r>
            <a:r>
              <a:rPr lang="en-US" b="0" i="0" dirty="0" err="1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Charmelia</a:t>
            </a:r>
            <a:r>
              <a:rPr lang="en-US" b="0" i="0" dirty="0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Butler</a:t>
            </a:r>
          </a:p>
          <a:p>
            <a:pPr algn="l"/>
            <a:r>
              <a:rPr lang="en-US" b="0" i="0" dirty="0">
                <a:solidFill>
                  <a:srgbClr val="3D494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submitted: May 28,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5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94CAD41-9F14-D833-7D2B-5B917A4E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sz="3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SRS Document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D2F22-75EC-0D93-AE9A-83889ABBD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4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an SRS?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14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 (SRS) document</a:t>
            </a: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detailed blueprint for software development.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comprehensively describes the </a:t>
            </a:r>
            <a:r>
              <a:rPr lang="en-US" sz="14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(what the system </a:t>
            </a:r>
            <a:r>
              <a:rPr lang="en-US" sz="1400" b="0" i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 </a:t>
            </a:r>
            <a:r>
              <a:rPr lang="en-US" sz="14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</a:t>
            </a: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(how well it </a:t>
            </a:r>
            <a:r>
              <a:rPr lang="en-US" sz="1400" b="0" i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it</a:t>
            </a: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requirements of a software system.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4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Ensures all stakeholders (developers, clients, users) have a clear, shared understanding of the software's goals and features.</a:t>
            </a:r>
          </a:p>
          <a:p>
            <a:pPr>
              <a:lnSpc>
                <a:spcPct val="110000"/>
              </a:lnSpc>
            </a:pPr>
            <a:endParaRPr lang="en-US" sz="1400"/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7BE3BA99-A501-08B4-B70E-15779A747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172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EC42EAB0-FF99-E731-75EB-C7D2EDF7F6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19" r="-1" b="14509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BBCA25-0932-E493-E61A-9EDF1449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sz="2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SRS Document (cont.)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C3DCF-CC4B-814E-5B8E-B3EE3F8C2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Sections: Setting the Stage</a:t>
            </a:r>
          </a:p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the product, its scope, and the document's purpose.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Defines the boundaries of the system – what's included and excluded.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Definitions: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Explains specialized terms, acronyms, and abbreviations.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Overview: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Lists external documents and outlines the SRS structure.</a:t>
            </a:r>
          </a:p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Overall Description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Perspective: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Explains how the software fits into a larger system or environment (e.g., new product, replacement, component).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Functions: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Summarizes the main capabilities the software will perform.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Characteristics: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Describes the target users and their skill levels.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 Constraints: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Lists limitations (e.g., hardware, regulatory policies).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Assumptions &amp; Dependencies:</a:t>
            </a:r>
            <a:r>
              <a:rPr lang="en-US" sz="11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factors assumed to be true and external components the project relies on.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64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gears">
            <a:extLst>
              <a:ext uri="{FF2B5EF4-FFF2-40B4-BE49-F238E27FC236}">
                <a16:creationId xmlns:a16="http://schemas.microsoft.com/office/drawing/2014/main" id="{6DEF769E-651E-534C-1BFE-FE679CDD05E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2979" r="-1" b="2018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D2F4C6-4891-F381-FEE8-2C53FBEEC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sz="2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Importance</a:t>
            </a: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A35F7-ED34-8414-FFD7-EAC2746D7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100" b="1" i="0">
                <a:effectLst/>
                <a:latin typeface="Figtree"/>
              </a:rPr>
              <a:t>3. Specific Requirements</a:t>
            </a:r>
          </a:p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100" b="0" i="0">
                <a:effectLst/>
                <a:latin typeface="Figtree"/>
              </a:rPr>
              <a:t>This is the most detailed section, outlining precise requirements: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Functional Requirements:</a:t>
            </a:r>
            <a:endParaRPr lang="en-US" sz="11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  <a:latin typeface="Figtree"/>
              </a:rPr>
              <a:t>Describe what the system </a:t>
            </a:r>
            <a:r>
              <a:rPr lang="en-US" sz="1100" b="0" i="1">
                <a:effectLst/>
                <a:latin typeface="Figtree"/>
              </a:rPr>
              <a:t>must do</a:t>
            </a:r>
            <a:r>
              <a:rPr lang="en-US" sz="1100" b="0" i="0">
                <a:effectLst/>
                <a:latin typeface="Figtree"/>
              </a:rPr>
              <a:t>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  <a:latin typeface="Figtree"/>
              </a:rPr>
              <a:t>Often broken down by use cases or features, detailing inputs, processes, and outputs.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Non-Functional Requirements:</a:t>
            </a:r>
            <a:endParaRPr lang="en-US" sz="11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0" i="0">
                <a:effectLst/>
                <a:latin typeface="Figtree"/>
              </a:rPr>
              <a:t>Describe </a:t>
            </a:r>
            <a:r>
              <a:rPr lang="en-US" sz="1100" b="0" i="1">
                <a:effectLst/>
                <a:latin typeface="Figtree"/>
              </a:rPr>
              <a:t>how well</a:t>
            </a:r>
            <a:r>
              <a:rPr lang="en-US" sz="1100" b="0" i="0">
                <a:effectLst/>
                <a:latin typeface="Figtree"/>
              </a:rPr>
              <a:t> the system performs its functions.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Performance:</a:t>
            </a:r>
            <a:r>
              <a:rPr lang="en-US" sz="1100" b="0" i="0">
                <a:effectLst/>
                <a:latin typeface="Figtree"/>
              </a:rPr>
              <a:t> Speed, response time, capacity.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Security:</a:t>
            </a:r>
            <a:r>
              <a:rPr lang="en-US" sz="1100" b="0" i="0">
                <a:effectLst/>
                <a:latin typeface="Figtree"/>
              </a:rPr>
              <a:t> Access control, data protection.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Reliability:</a:t>
            </a:r>
            <a:r>
              <a:rPr lang="en-US" sz="1100" b="0" i="0">
                <a:effectLst/>
                <a:latin typeface="Figtree"/>
              </a:rPr>
              <a:t> Uptime, error recovery.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Usability:</a:t>
            </a:r>
            <a:r>
              <a:rPr lang="en-US" sz="1100" b="0" i="0">
                <a:effectLst/>
                <a:latin typeface="Figtree"/>
              </a:rPr>
              <a:t> Ease of learning and use.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Maintainability:</a:t>
            </a:r>
            <a:r>
              <a:rPr lang="en-US" sz="1100" b="0" i="0">
                <a:effectLst/>
                <a:latin typeface="Figtree"/>
              </a:rPr>
              <a:t> Ease of modification and testing.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Portability:</a:t>
            </a:r>
            <a:r>
              <a:rPr lang="en-US" sz="1100" b="0" i="0">
                <a:effectLst/>
                <a:latin typeface="Figtree"/>
              </a:rPr>
              <a:t> Ability to run on different platforms.</a:t>
            </a:r>
          </a:p>
          <a:p>
            <a:pPr>
              <a:lnSpc>
                <a:spcPct val="110000"/>
              </a:lnSpc>
            </a:pPr>
            <a:endParaRPr lang="en-US" sz="110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136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FE6587F5-8E15-F4A1-F790-596CCA3F6E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grayscl/>
          </a:blip>
          <a:srcRect r="-1" b="15728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FD282C-F0BA-90FC-3690-EB79C452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sz="27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Importance (cont.)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230A67F-E464-6E1E-CB73-33295B178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400" b="1" i="0" dirty="0">
                <a:effectLst/>
                <a:latin typeface="Figtree"/>
              </a:rPr>
              <a:t>Other Requirements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igtree"/>
              </a:rPr>
              <a:t>Captures requirements not fitting other categories.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igtree"/>
              </a:rPr>
              <a:t>Examples: </a:t>
            </a:r>
            <a:r>
              <a:rPr lang="en-US" sz="1400" i="0" dirty="0">
                <a:effectLst/>
                <a:latin typeface="Figtree"/>
              </a:rPr>
              <a:t>Database requirements, internationalization, legal/regulatory compliance, hardware/software interface specifics.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400" b="1" i="0" dirty="0">
                <a:effectLst/>
                <a:latin typeface="Figtree"/>
              </a:rPr>
              <a:t>Why is an SRS Important?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Figtree"/>
              </a:rPr>
              <a:t>Foundational Contract:</a:t>
            </a:r>
            <a:r>
              <a:rPr lang="en-US" sz="1400" b="0" i="0" dirty="0">
                <a:effectLst/>
                <a:latin typeface="Figtree"/>
              </a:rPr>
              <a:t> Acts as an agreement between all parties involved.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Figtree"/>
              </a:rPr>
              <a:t>Reduces Ambiguity:</a:t>
            </a:r>
            <a:r>
              <a:rPr lang="en-US" sz="1400" b="0" i="0" dirty="0">
                <a:effectLst/>
                <a:latin typeface="Figtree"/>
              </a:rPr>
              <a:t> Minimizes misunderstandings and misinterpretations.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Figtree"/>
              </a:rPr>
              <a:t>Guides Development:</a:t>
            </a:r>
            <a:r>
              <a:rPr lang="en-US" sz="1400" b="0" i="0" dirty="0">
                <a:effectLst/>
                <a:latin typeface="Figtree"/>
              </a:rPr>
              <a:t> Serves as a critical reference throughout the entire </a:t>
            </a:r>
            <a:r>
              <a:rPr lang="en-US" sz="1400" i="0" dirty="0">
                <a:effectLst/>
                <a:latin typeface="Figtree"/>
              </a:rPr>
              <a:t>Software Development Lifecycle (SDLC).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i="0" dirty="0">
                <a:effectLst/>
                <a:latin typeface="Figtree"/>
              </a:rPr>
              <a:t>Ensures Success:</a:t>
            </a:r>
            <a:r>
              <a:rPr lang="en-US" sz="1400" b="0" i="0" dirty="0">
                <a:effectLst/>
                <a:latin typeface="Figtree"/>
              </a:rPr>
              <a:t> Helps ensure the final software meets intended needs and expectations.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637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77D50F3-4EF0-5523-D718-49A5C4D7CA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0" r="-1" b="9748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6D61B-7B77-AF2F-80BB-82050DBF5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Design &amp; User Experience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426E6-C149-1060-A687-0F7A0F48C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500" b="1" i="0">
                <a:effectLst/>
                <a:latin typeface="Figtree"/>
              </a:rPr>
              <a:t>Overview of User Interface Design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Purpose:</a:t>
            </a:r>
            <a:r>
              <a:rPr lang="en-US" sz="1500" b="0" i="0">
                <a:effectLst/>
                <a:latin typeface="Figtree"/>
              </a:rPr>
              <a:t> Provide intuitive, responsive interfaces for core user interactions.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Foundation:</a:t>
            </a:r>
            <a:r>
              <a:rPr lang="en-US" sz="1500" b="0" i="0">
                <a:effectLst/>
                <a:latin typeface="Figtree"/>
              </a:rPr>
              <a:t> Adheres to GUI standards and screen layout constraints from SRS (Section 4.1 User Interfaces).</a:t>
            </a:r>
          </a:p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500" b="1" i="0">
                <a:effectLst/>
                <a:latin typeface="Figtree"/>
              </a:rPr>
              <a:t>Key Pages &amp; Design Principles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Landing Page (</a:t>
            </a:r>
            <a:r>
              <a:rPr lang="en-US" sz="1500" b="1" i="0" err="1">
                <a:effectLst/>
                <a:latin typeface="Figtree"/>
              </a:rPr>
              <a:t>index.php</a:t>
            </a:r>
            <a:r>
              <a:rPr lang="en-US" sz="1500" b="1" i="0">
                <a:effectLst/>
                <a:latin typeface="Figtree"/>
              </a:rPr>
              <a:t>)</a:t>
            </a:r>
            <a:endParaRPr lang="en-US" sz="15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Role:</a:t>
            </a:r>
            <a:r>
              <a:rPr lang="en-US" sz="1500" b="0" i="0">
                <a:effectLst/>
                <a:latin typeface="Figtree"/>
              </a:rPr>
              <a:t> Main entry point, welcomes users, directs to Login/Register.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Design:</a:t>
            </a:r>
            <a:r>
              <a:rPr lang="en-US" sz="1500" b="0" i="0">
                <a:effectLst/>
                <a:latin typeface="Figtree"/>
              </a:rPr>
              <a:t> Clean, uncluttered, prominent calls to action.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UX Feature:</a:t>
            </a:r>
            <a:r>
              <a:rPr lang="en-US" sz="1500" b="0" i="0">
                <a:effectLst/>
                <a:latin typeface="Figtree"/>
              </a:rPr>
              <a:t> Auto-redirects logged-in users to </a:t>
            </a:r>
            <a:r>
              <a:rPr lang="en-US" sz="1500" b="0" i="0" err="1">
                <a:effectLst/>
                <a:latin typeface="Figtree"/>
              </a:rPr>
              <a:t>dashboard.php</a:t>
            </a:r>
            <a:r>
              <a:rPr lang="en-US" sz="1500" b="0" i="0">
                <a:effectLst/>
                <a:latin typeface="Figtree"/>
              </a:rPr>
              <a:t> for seamless experience.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Technology:</a:t>
            </a:r>
            <a:r>
              <a:rPr lang="en-US" sz="1500" b="0" i="0">
                <a:effectLst/>
                <a:latin typeface="Figtree"/>
              </a:rPr>
              <a:t> Utilizes </a:t>
            </a:r>
            <a:r>
              <a:rPr lang="en-US" sz="1500" b="1" i="0">
                <a:effectLst/>
                <a:latin typeface="Figtree"/>
              </a:rPr>
              <a:t>Bootstrap 5</a:t>
            </a:r>
            <a:r>
              <a:rPr lang="en-US" sz="1500" b="0" i="0">
                <a:effectLst/>
                <a:latin typeface="Figtree"/>
              </a:rPr>
              <a:t> for responsiveness.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143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A603EF0C-4F76-6F78-BEAD-02F3321532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980" r="-1" b="9748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DD55C-8BD0-B3A8-EF26-780911552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Page Design &amp; User Experience (cont.)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18698-E5A3-8D38-BDE6-CA1F6EC47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Login Page (</a:t>
            </a:r>
            <a:r>
              <a:rPr lang="en-US" sz="1100" b="1" i="0" err="1">
                <a:effectLst/>
                <a:latin typeface="Figtree"/>
              </a:rPr>
              <a:t>login.php</a:t>
            </a:r>
            <a:r>
              <a:rPr lang="en-US" sz="1100" b="1" i="0">
                <a:effectLst/>
                <a:latin typeface="Figtree"/>
              </a:rPr>
              <a:t>)</a:t>
            </a:r>
            <a:endParaRPr lang="en-US" sz="11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Role:</a:t>
            </a:r>
            <a:r>
              <a:rPr lang="en-US" sz="1100" b="0" i="0">
                <a:effectLst/>
                <a:latin typeface="Figtree"/>
              </a:rPr>
              <a:t> Secure user authentication.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Design:</a:t>
            </a:r>
            <a:r>
              <a:rPr lang="en-US" sz="1100" b="0" i="0">
                <a:effectLst/>
                <a:latin typeface="Figtree"/>
              </a:rPr>
              <a:t> Form-centric with "Username/Email" &amp; "Password" fields.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UX Feature:</a:t>
            </a:r>
            <a:r>
              <a:rPr lang="en-US" sz="1100" b="0" i="0">
                <a:effectLst/>
                <a:latin typeface="Figtree"/>
              </a:rPr>
              <a:t> Displays clear error messages (e.g., "Invalid credentials") for immediate feedback.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Technology:</a:t>
            </a:r>
            <a:r>
              <a:rPr lang="en-US" sz="1100" b="0" i="0">
                <a:effectLst/>
                <a:latin typeface="Figtree"/>
              </a:rPr>
              <a:t> Bootstrap for consistent styling.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Registration Page (</a:t>
            </a:r>
            <a:r>
              <a:rPr lang="en-US" sz="1100" b="1" i="0" err="1">
                <a:effectLst/>
                <a:latin typeface="Figtree"/>
              </a:rPr>
              <a:t>register.php</a:t>
            </a:r>
            <a:r>
              <a:rPr lang="en-US" sz="1100" b="1" i="0">
                <a:effectLst/>
                <a:latin typeface="Figtree"/>
              </a:rPr>
              <a:t>)</a:t>
            </a:r>
            <a:endParaRPr lang="en-US" sz="11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Role:</a:t>
            </a:r>
            <a:r>
              <a:rPr lang="en-US" sz="1100" b="0" i="0">
                <a:effectLst/>
                <a:latin typeface="Figtree"/>
              </a:rPr>
              <a:t> New user account creation.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Design:</a:t>
            </a:r>
            <a:r>
              <a:rPr lang="en-US" sz="1100" b="0" i="0">
                <a:effectLst/>
                <a:latin typeface="Figtree"/>
              </a:rPr>
              <a:t> Comprehensive form for user details.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UX Feature:</a:t>
            </a:r>
            <a:r>
              <a:rPr lang="en-US" sz="1100" b="0" i="0">
                <a:effectLst/>
                <a:latin typeface="Figtree"/>
              </a:rPr>
              <a:t> Provides immediate validation feedback (e.g., "Passwords do not match") and pre-fills fields on error.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100" b="1" i="0">
                <a:effectLst/>
                <a:latin typeface="Figtree"/>
              </a:rPr>
              <a:t>Technology:</a:t>
            </a:r>
            <a:r>
              <a:rPr lang="en-US" sz="1100" b="0" i="0">
                <a:effectLst/>
                <a:latin typeface="Figtree"/>
              </a:rPr>
              <a:t> Bootstrap for responsive layout.</a:t>
            </a:r>
          </a:p>
          <a:p>
            <a:pPr>
              <a:lnSpc>
                <a:spcPct val="110000"/>
              </a:lnSpc>
              <a:buNone/>
            </a:pPr>
            <a:br>
              <a:rPr lang="en-US" sz="1100"/>
            </a:br>
            <a:endParaRPr lang="en-US" sz="1100"/>
          </a:p>
          <a:p>
            <a:pPr>
              <a:lnSpc>
                <a:spcPct val="110000"/>
              </a:lnSpc>
            </a:pPr>
            <a:endParaRPr lang="en-US" sz="110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430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 descr="Top view of cubes connected with black lines">
            <a:extLst>
              <a:ext uri="{FF2B5EF4-FFF2-40B4-BE49-F238E27FC236}">
                <a16:creationId xmlns:a16="http://schemas.microsoft.com/office/drawing/2014/main" id="{673946B4-BE31-5105-7268-E5ABC19FD9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731" r="-1" b="10267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77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9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E4156-160B-7790-4932-D40338DF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sz="3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&amp; Class Management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C51E48C8-7741-37BE-2F77-3A0BBA1AE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Schema: The Application's Backbone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Securely store and manage user and course-related data.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Foundation:</a:t>
            </a:r>
            <a:r>
              <a:rPr lang="en-US" sz="1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Designed based on SRS (Section 4.3 Software Interfaces &amp; 6. Other Requirements - Database).</a:t>
            </a:r>
          </a:p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Tables &amp; Relationships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 Table</a:t>
            </a:r>
            <a:endParaRPr lang="en-US" sz="1700" b="0" i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1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authentication details.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r>
              <a:rPr lang="en-US" sz="1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id (PK, Auto-Inc), username (Unique), email (Unique), </a:t>
            </a:r>
            <a:r>
              <a:rPr lang="en-US" sz="1700" b="1" i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password_hash</a:t>
            </a:r>
            <a:r>
              <a:rPr lang="en-US" sz="17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(CRITICAL: Stores hashed passwords, NEVER plain text)</a:t>
            </a:r>
            <a:r>
              <a:rPr lang="en-US" sz="1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700" b="0" i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r>
              <a:rPr lang="en-US" sz="1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1700"/>
          </a:p>
        </p:txBody>
      </p:sp>
      <p:sp>
        <p:nvSpPr>
          <p:cNvPr id="85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343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Old computer monitors">
            <a:extLst>
              <a:ext uri="{FF2B5EF4-FFF2-40B4-BE49-F238E27FC236}">
                <a16:creationId xmlns:a16="http://schemas.microsoft.com/office/drawing/2014/main" id="{7A6AF3F5-10F8-FA85-8D91-5E002C2A2A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52" r="-1" b="14218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4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0536F-E64C-5A78-E538-615FC3E92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sz="30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&amp; Class Management (</a:t>
            </a:r>
            <a:r>
              <a:rPr lang="en-US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cont.)</a:t>
            </a:r>
            <a:endParaRPr lang="en-US" sz="300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78E6-D50E-6097-CDE9-B5A8946FB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pPr lvl="1">
              <a:lnSpc>
                <a:spcPct val="110000"/>
              </a:lnSpc>
            </a:pPr>
            <a:r>
              <a:rPr lang="en-US" sz="1600" b="1" dirty="0"/>
              <a:t>courses Table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Purpose: Stores details of all available courses.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Columns: </a:t>
            </a:r>
            <a:r>
              <a:rPr lang="en-US" sz="1600" dirty="0" err="1"/>
              <a:t>course_id</a:t>
            </a:r>
            <a:r>
              <a:rPr lang="en-US" sz="1600" dirty="0"/>
              <a:t> (PK, Auto-Inc), </a:t>
            </a:r>
            <a:r>
              <a:rPr lang="en-US" sz="1600" dirty="0" err="1"/>
              <a:t>course_code</a:t>
            </a:r>
            <a:r>
              <a:rPr lang="en-US" sz="1600" dirty="0"/>
              <a:t> (Unique), </a:t>
            </a:r>
            <a:r>
              <a:rPr lang="en-US" sz="1600" dirty="0" err="1"/>
              <a:t>course_title</a:t>
            </a:r>
            <a:r>
              <a:rPr lang="en-US" sz="1600" dirty="0"/>
              <a:t>, semester, credits, </a:t>
            </a:r>
            <a:r>
              <a:rPr lang="en-US" sz="1600" dirty="0" err="1"/>
              <a:t>max_capacity</a:t>
            </a:r>
            <a:r>
              <a:rPr lang="en-US" sz="16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registrations Table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Purpose: Junction table linking users to courses (many-to-many relationship).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Columns: </a:t>
            </a:r>
            <a:r>
              <a:rPr lang="en-US" sz="1600" dirty="0" err="1"/>
              <a:t>registration_id</a:t>
            </a:r>
            <a:r>
              <a:rPr lang="en-US" sz="1600" dirty="0"/>
              <a:t> (PK, Auto-Inc), </a:t>
            </a:r>
            <a:r>
              <a:rPr lang="en-US" sz="1600" dirty="0" err="1"/>
              <a:t>user_id</a:t>
            </a:r>
            <a:r>
              <a:rPr lang="en-US" sz="1600" dirty="0"/>
              <a:t> (FK to </a:t>
            </a:r>
            <a:r>
              <a:rPr lang="en-US" sz="1600" dirty="0" err="1"/>
              <a:t>users.id</a:t>
            </a:r>
            <a:r>
              <a:rPr lang="en-US" sz="1600" dirty="0"/>
              <a:t>), </a:t>
            </a:r>
            <a:r>
              <a:rPr lang="en-US" sz="1600" dirty="0" err="1"/>
              <a:t>course_id</a:t>
            </a:r>
            <a:r>
              <a:rPr lang="en-US" sz="1600" dirty="0"/>
              <a:t> (FK to </a:t>
            </a:r>
            <a:r>
              <a:rPr lang="en-US" sz="1600" dirty="0" err="1"/>
              <a:t>courses.course_id</a:t>
            </a:r>
            <a:r>
              <a:rPr lang="en-US" sz="1600" dirty="0"/>
              <a:t>), </a:t>
            </a:r>
            <a:r>
              <a:rPr lang="en-US" sz="1600" dirty="0" err="1"/>
              <a:t>registration_date</a:t>
            </a:r>
            <a:r>
              <a:rPr lang="en-US" sz="1600" dirty="0"/>
              <a:t>, status.</a:t>
            </a:r>
          </a:p>
          <a:p>
            <a:pPr>
              <a:lnSpc>
                <a:spcPct val="110000"/>
              </a:lnSpc>
            </a:pPr>
            <a:r>
              <a:rPr lang="en-US" sz="1600" dirty="0"/>
              <a:t>Constraints: FOREIGN KEY with ON DELETE CASCADE for data integrity; UNIQUE (</a:t>
            </a:r>
            <a:r>
              <a:rPr lang="en-US" sz="1600" dirty="0" err="1"/>
              <a:t>user_id</a:t>
            </a:r>
            <a:r>
              <a:rPr lang="en-US" sz="1600" dirty="0"/>
              <a:t>, </a:t>
            </a:r>
            <a:r>
              <a:rPr lang="en-US" sz="1600" dirty="0" err="1"/>
              <a:t>course_id</a:t>
            </a:r>
            <a:r>
              <a:rPr lang="en-US" sz="1600" dirty="0"/>
              <a:t>)to prevent duplicate enrollments.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sp>
        <p:nvSpPr>
          <p:cNvPr id="27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4316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16019A-515D-77D6-2FD4-9D0CE0F6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500" b="1" i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&amp; Class Management (cont.)</a:t>
            </a:r>
            <a:endParaRPr lang="en-US" sz="25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1891-CC53-563A-765D-0B37CE247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94" y="1240077"/>
            <a:ext cx="6034827" cy="4916465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500" b="1" i="0">
                <a:effectLst/>
                <a:latin typeface="Figtree"/>
              </a:rPr>
              <a:t>Class Registration Process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Enrollment (</a:t>
            </a:r>
            <a:r>
              <a:rPr lang="en-US" sz="1500" b="1" i="0" err="1">
                <a:effectLst/>
                <a:latin typeface="Figtree"/>
              </a:rPr>
              <a:t>enroll.php</a:t>
            </a:r>
            <a:r>
              <a:rPr lang="en-US" sz="1500" b="1" i="0">
                <a:effectLst/>
                <a:latin typeface="Figtree"/>
              </a:rPr>
              <a:t>)</a:t>
            </a:r>
            <a:endParaRPr lang="en-US" sz="15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Displays available courses.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Inserts new records into registrations table.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Includes checks for duplicate enrollments and course capacity.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Listing (</a:t>
            </a:r>
            <a:r>
              <a:rPr lang="en-US" sz="1500" b="1" i="0" err="1">
                <a:effectLst/>
                <a:latin typeface="Figtree"/>
              </a:rPr>
              <a:t>my_classes.php</a:t>
            </a:r>
            <a:r>
              <a:rPr lang="en-US" sz="1500" b="1" i="0">
                <a:effectLst/>
                <a:latin typeface="Figtree"/>
              </a:rPr>
              <a:t>)</a:t>
            </a:r>
            <a:endParaRPr lang="en-US" sz="15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Retrieves user's registered courses using </a:t>
            </a:r>
            <a:r>
              <a:rPr lang="en-US" sz="1500" i="0">
                <a:effectLst/>
                <a:latin typeface="Figtree"/>
              </a:rPr>
              <a:t>SQL JOIN operations.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Presents course details in a user-friendly table.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Dropping (</a:t>
            </a:r>
            <a:r>
              <a:rPr lang="en-US" sz="1500" b="1" i="0" err="1">
                <a:effectLst/>
                <a:latin typeface="Figtree"/>
              </a:rPr>
              <a:t>drop_class.php</a:t>
            </a:r>
            <a:r>
              <a:rPr lang="en-US" sz="1500" b="1" i="0">
                <a:effectLst/>
                <a:latin typeface="Figtree"/>
              </a:rPr>
              <a:t>)</a:t>
            </a:r>
            <a:endParaRPr lang="en-US" sz="15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Deletes records from registrations table.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Includes </a:t>
            </a:r>
            <a:r>
              <a:rPr lang="en-US" sz="1500" i="0">
                <a:effectLst/>
                <a:latin typeface="Figtree"/>
              </a:rPr>
              <a:t>authorization checks </a:t>
            </a:r>
            <a:r>
              <a:rPr lang="en-US" sz="1500" b="0" i="0">
                <a:effectLst/>
                <a:latin typeface="Figtree"/>
              </a:rPr>
              <a:t>to prevent unauthorized unenrollment.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29448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3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FC5B7-C61D-3378-F57F-A1DCC1F6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504" y="1240076"/>
            <a:ext cx="2727813" cy="4584527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b="1" i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PHP Code: Logic, Security &amp; Best Practices</a:t>
            </a:r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A486-74D7-50AA-4508-25025B4FE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0077"/>
            <a:ext cx="6034827" cy="4916465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300" b="1" i="0">
                <a:effectLst/>
                <a:latin typeface="Figtree"/>
              </a:rPr>
              <a:t>Core Components &amp; Security Measures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Database.php (Connection Hub)</a:t>
            </a:r>
            <a:endParaRPr lang="en-US" sz="13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Centralized Logic:</a:t>
            </a:r>
            <a:r>
              <a:rPr lang="en-US" sz="1300" b="0" i="0">
                <a:effectLst/>
                <a:latin typeface="Figtree"/>
              </a:rPr>
              <a:t> Manages all database connections.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Technology:</a:t>
            </a:r>
            <a:r>
              <a:rPr lang="en-US" sz="1300" b="0" i="0">
                <a:effectLst/>
                <a:latin typeface="Figtree"/>
              </a:rPr>
              <a:t> Uses </a:t>
            </a:r>
            <a:r>
              <a:rPr lang="en-US" sz="1300" b="1" i="0">
                <a:effectLst/>
                <a:latin typeface="Figtree"/>
              </a:rPr>
              <a:t>PDO (PHP Data Objects)</a:t>
            </a:r>
            <a:r>
              <a:rPr lang="en-US" sz="1300" b="0" i="0">
                <a:effectLst/>
                <a:latin typeface="Figtree"/>
              </a:rPr>
              <a:t> for consistent and secure interaction.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Error Handling:</a:t>
            </a:r>
            <a:r>
              <a:rPr lang="en-US" sz="1300" b="0" i="0">
                <a:effectLst/>
                <a:latin typeface="Figtree"/>
              </a:rPr>
              <a:t> try-catch blocks with PDO::ATTR_ERRMODE_EXCEPTION for robust error management and logging (error_log()).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register.php (User Onboarding)</a:t>
            </a:r>
            <a:endParaRPr lang="en-US" sz="13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Input Validation:</a:t>
            </a:r>
            <a:r>
              <a:rPr lang="en-US" sz="1300" b="0" i="0">
                <a:effectLst/>
                <a:latin typeface="Figtree"/>
              </a:rPr>
              <a:t> Checks for completeness, format (email), length (password), and matching passwords.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Uniqueness Check:</a:t>
            </a:r>
            <a:r>
              <a:rPr lang="en-US" sz="1300" b="0" i="0">
                <a:effectLst/>
                <a:latin typeface="Figtree"/>
              </a:rPr>
              <a:t> Prevents duplicate usernames/emails.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Password Hashing:</a:t>
            </a:r>
            <a:r>
              <a:rPr lang="en-US" sz="1300" b="0" i="0">
                <a:effectLst/>
                <a:latin typeface="Figtree"/>
              </a:rPr>
              <a:t> </a:t>
            </a:r>
            <a:r>
              <a:rPr lang="en-US" sz="1300" b="1" i="0">
                <a:effectLst/>
                <a:latin typeface="Figtree"/>
              </a:rPr>
              <a:t>CRITICAL:</a:t>
            </a:r>
            <a:r>
              <a:rPr lang="en-US" sz="1300" b="0" i="0">
                <a:effectLst/>
                <a:latin typeface="Figtree"/>
              </a:rPr>
              <a:t> password_hash() securely stores one-way hashes, never plain-text passwords.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300" b="1" i="0">
                <a:effectLst/>
                <a:latin typeface="Figtree"/>
              </a:rPr>
              <a:t>SQL Injection Prevention:</a:t>
            </a:r>
            <a:r>
              <a:rPr lang="en-US" sz="1300" b="0" i="0">
                <a:effectLst/>
                <a:latin typeface="Figtree"/>
              </a:rPr>
              <a:t> Uses </a:t>
            </a:r>
            <a:r>
              <a:rPr lang="en-US" sz="1300" b="1" i="0">
                <a:effectLst/>
                <a:latin typeface="Figtree"/>
              </a:rPr>
              <a:t>PDO Prepared Statements</a:t>
            </a:r>
            <a:r>
              <a:rPr lang="en-US" sz="1300" b="0" i="0">
                <a:effectLst/>
                <a:latin typeface="Figtree"/>
              </a:rPr>
              <a:t> for all INSERT operations.</a:t>
            </a:r>
          </a:p>
          <a:p>
            <a:pPr>
              <a:lnSpc>
                <a:spcPct val="110000"/>
              </a:lnSpc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54085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873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3E44F-6FAE-2B6A-15AB-6A6CBAA70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4504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b="1" i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PHP Code: Logic, Security &amp; Best Practices (cont.)</a:t>
            </a:r>
            <a:endParaRPr lang="en-US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93B4-5B05-8E15-5BE3-E141166CF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240077"/>
            <a:ext cx="6034827" cy="4916465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login_process.php (User Authentication)</a:t>
            </a:r>
            <a:endParaRPr lang="en-US" sz="15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Session Management:</a:t>
            </a:r>
            <a:r>
              <a:rPr lang="en-US" sz="1500" b="0" i="0">
                <a:effectLst/>
                <a:latin typeface="Figtree"/>
              </a:rPr>
              <a:t> session_start() and $_SESSION maintain user login state across pages.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Password Verification:</a:t>
            </a:r>
            <a:r>
              <a:rPr lang="en-US" sz="1500" b="0" i="0">
                <a:effectLst/>
                <a:latin typeface="Figtree"/>
              </a:rPr>
              <a:t> password_verify() securely compares submitted password with stored hash.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SQL Injection Prevention:</a:t>
            </a:r>
            <a:r>
              <a:rPr lang="en-US" sz="1500" b="0" i="0">
                <a:effectLst/>
                <a:latin typeface="Figtree"/>
              </a:rPr>
              <a:t> Uses </a:t>
            </a:r>
            <a:r>
              <a:rPr lang="en-US" sz="1500" b="1" i="0">
                <a:effectLst/>
                <a:latin typeface="Figtree"/>
              </a:rPr>
              <a:t>PDO Prepared Statements</a:t>
            </a:r>
            <a:r>
              <a:rPr lang="en-US" sz="1500" b="0" i="0">
                <a:effectLst/>
                <a:latin typeface="Figtree"/>
              </a:rPr>
              <a:t> for SELECT operations.</a:t>
            </a:r>
          </a:p>
          <a:p>
            <a:pPr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1" i="0">
                <a:effectLst/>
                <a:latin typeface="Figtree"/>
              </a:rPr>
              <a:t>enroll.php, my_classes.php, drop_class.php (Class Management)</a:t>
            </a:r>
            <a:endParaRPr lang="en-US" sz="1500" b="0" i="0">
              <a:effectLst/>
              <a:latin typeface="Figtree"/>
            </a:endParaRP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All utilize </a:t>
            </a:r>
            <a:r>
              <a:rPr lang="en-US" sz="1500" b="1" i="0">
                <a:effectLst/>
                <a:latin typeface="Figtree"/>
              </a:rPr>
              <a:t>PDO Prepared Statements</a:t>
            </a:r>
            <a:r>
              <a:rPr lang="en-US" sz="1500" b="0" i="0">
                <a:effectLst/>
                <a:latin typeface="Figtree"/>
              </a:rPr>
              <a:t> for secure database interactions.</a:t>
            </a:r>
          </a:p>
          <a:p>
            <a:pPr marL="742950" lvl="1" indent="-285750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Figtree"/>
              </a:rPr>
              <a:t>Include </a:t>
            </a:r>
            <a:r>
              <a:rPr lang="en-US" sz="1500" b="1" i="0">
                <a:effectLst/>
                <a:latin typeface="Figtree"/>
              </a:rPr>
              <a:t>Authorization Checks</a:t>
            </a:r>
            <a:r>
              <a:rPr lang="en-US" sz="1500" b="0" i="0">
                <a:effectLst/>
                <a:latin typeface="Figtree"/>
              </a:rPr>
              <a:t> (e.g., $_SESSION['logged_in'], user-specific data access) to protect user data and prevent unauthorized actions.</a:t>
            </a:r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907639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4062127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D3CC83-E746-DEFB-BCBA-96E68B9A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3" y="1240076"/>
            <a:ext cx="2727813" cy="4584527"/>
          </a:xfrm>
        </p:spPr>
        <p:txBody>
          <a:bodyPr>
            <a:normAutofit/>
          </a:bodyPr>
          <a:lstStyle/>
          <a:p>
            <a:r>
              <a:rPr lang="en-US"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6B92B-F802-81CF-90DB-54BC9E669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5594" y="1240077"/>
            <a:ext cx="6034827" cy="491646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b="0" i="0" u="none" strike="noStrike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Homès</a:t>
            </a:r>
            <a:r>
              <a:rPr lang="en-US" b="0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B. (2024). </a:t>
            </a:r>
            <a:r>
              <a:rPr lang="en-US" b="0" i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software testing</a:t>
            </a:r>
            <a:r>
              <a:rPr lang="en-US" b="0" i="0" u="none" strike="noStrike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John Wiley &amp; Sons.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Tsui, F., Karam, O., &amp; Bernal, B. (2018). </a:t>
            </a:r>
            <a:r>
              <a:rPr lang="en-US" i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Essentials of software engineering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(4th ed.). Jones &amp; Bartlett Learning.</a:t>
            </a: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Spillner, A., Linz, T., &amp; Schaefer, H. (2014). </a:t>
            </a:r>
            <a:r>
              <a:rPr lang="en-US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 tooltip="Link"/>
              </a:rPr>
              <a:t>Software testing foundations: A study guide for the certified tester exam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(4th ed.). Rocky Nook.</a:t>
            </a:r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  <a:buNone/>
            </a:pPr>
            <a:br>
              <a:rPr lang="en-US" dirty="0">
                <a:effectLst/>
              </a:rPr>
            </a:b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440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174</TotalTime>
  <Words>1319</Words>
  <Application>Microsoft Macintosh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Figtree</vt:lpstr>
      <vt:lpstr>Gill Sans MT</vt:lpstr>
      <vt:lpstr>Times New Roman</vt:lpstr>
      <vt:lpstr>Gallery</vt:lpstr>
      <vt:lpstr>Part Two: Final Project Presentation</vt:lpstr>
      <vt:lpstr>Understanding the SRS Document</vt:lpstr>
      <vt:lpstr>Understanding the SRS Document (cont.)</vt:lpstr>
      <vt:lpstr>Requirements &amp; Importance</vt:lpstr>
      <vt:lpstr>Requirements &amp; Importance (cont.)</vt:lpstr>
      <vt:lpstr>Page Design &amp; User Experience</vt:lpstr>
      <vt:lpstr>Page Design &amp; User Experience (cont.)</vt:lpstr>
      <vt:lpstr>MySQL Database &amp; Class Management</vt:lpstr>
      <vt:lpstr>MySQL Database &amp; Class Management (cont.)</vt:lpstr>
      <vt:lpstr>MySQL Database &amp; Class Management (cont.)</vt:lpstr>
      <vt:lpstr> PHP Code: Logic, Security &amp; Best Practices</vt:lpstr>
      <vt:lpstr> PHP Code: Logic, Security &amp; Best Practices (cont.)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rayon facey</dc:creator>
  <cp:lastModifiedBy>rayon facey</cp:lastModifiedBy>
  <cp:revision>2</cp:revision>
  <dcterms:created xsi:type="dcterms:W3CDTF">2026-05-29T01:19:34Z</dcterms:created>
  <dcterms:modified xsi:type="dcterms:W3CDTF">2026-05-29T04:13:53Z</dcterms:modified>
</cp:coreProperties>
</file>